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BFAB-04D8-D487-F415-5E6629F6D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11172-9EA0-1725-B808-A9A2B2CE8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4984-EA74-CDA9-C4D7-45FAE1BE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C6BC1-6B20-654F-0AE7-27C7F5A24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203EB-4732-54CC-E13D-C5D2B9F5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8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A5A9D-94FF-50A8-7C38-8F9FAE06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F76BC-AB27-5CE6-38E8-226F52E76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A9F5-8139-424D-BB01-BBB6C2F6E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FE378-0DE7-0DD2-5865-236EBF75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CF307-8E17-E97A-A648-ED5A818D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7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4506C-8740-0799-2945-E423444B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F1059-91AF-FF4C-C7DC-C9238B7C5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2579A-A376-AAAC-A6B8-0BD17700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3EF7-21AC-3342-038F-E8237D2D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86535-E5BB-20A8-3047-3B49F107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31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53CE1-717B-A846-D91B-76314C6B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D9A60-D903-D55E-2644-6DDE962C8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5418B-D76D-93D9-E772-54681DD5A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7E719-D7DC-B7E1-D74C-A6CDF115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C612F-A983-AC2A-A86A-A1D0124A1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86856-BBFA-A239-CE63-2CA01349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0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E64D-EE49-2988-A8A5-07799FC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39A0F-1A52-5401-41D8-4BED2D210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EA55B-FBE0-9734-A264-CA71FA8A7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A3668-AA4D-DD6C-3712-A1AFCDDE2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4AB58-2E19-1DA9-62D5-7847F793A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3E6DB-6215-03C3-FB21-FC638D28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E9818-1D2F-FF2F-A38D-68CD7ED1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A4E0F-369F-5943-1CE6-317DAEBC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40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F2887-8AA5-BEB0-BF9F-3B18605B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48F7C-DA86-C50F-C295-AA86B586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50D92-D92D-3A2E-F917-B7C5198C5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2B483-E2F6-54AF-CEC1-18ABB61D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1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BE796-720B-A607-4210-DB843B6BE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DC985-4703-BF44-B939-166F1F8A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F671C-DDDE-2027-DA95-C6E2F054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2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1503-9E7E-246B-5B23-2E490758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13C1F-A93E-6C7F-2330-6ACE4AEAF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6ED43-9A96-E4AB-3DC1-2594638D7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38234-8097-31DB-7F7D-5FFC3224F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F85C-8E4C-A6FA-EAD0-65BE58B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5D2F8-56A1-27A5-58EF-B5727B54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80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3B16-5DFB-55BC-20BA-93FB832E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7A1B3-3694-4A88-BDD0-4910FFC5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1307-5368-A3F6-72DE-5DE24883F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0633B-09BE-2792-E02D-6D294376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EFE1-13E0-2ED0-8B3F-7004CA01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6D2A4-FEF8-1A85-8A89-C65B11DB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9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5D09-7613-03B8-8E1E-1642BFD7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B3252-4921-22F7-5176-E1E6D81BD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4D1FA-C03A-8F4B-F157-CE60B833D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15206-BA8A-751F-96A5-5FBB3BA7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36DC5-832C-20FB-942D-A44F33F3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4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EF393-B397-7F01-3A2C-2F27BCE4B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2265B-182F-9027-93D6-47B74A302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C08B8-10D0-7CF4-D863-2DEA48148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7FBD4-9899-22B0-FB86-933334DA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EA731-5495-3085-CC7D-7EBFD4CD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01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EFFC6B-B95C-C272-0AEC-12153061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416B3-819C-C9E5-EAA7-78C493E3C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A4D7A-A8CA-6196-AF72-44301892E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D1CEF-E4BF-477D-9915-344FDB449943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5CBD2-2F8D-FFA4-A054-11B22A946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736A7-9769-4EB5-70CB-7E233374C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37B74-012D-4704-B3C0-A324CB913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70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8EBF64-8B8A-0778-2F7A-EF741C3449C5}"/>
              </a:ext>
            </a:extLst>
          </p:cNvPr>
          <p:cNvSpPr txBox="1"/>
          <p:nvPr/>
        </p:nvSpPr>
        <p:spPr>
          <a:xfrm>
            <a:off x="340745" y="281160"/>
            <a:ext cx="11184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Architecture diagram for </a:t>
            </a:r>
            <a:r>
              <a:rPr lang="en-IN" sz="2400" b="1" dirty="0"/>
              <a:t>Smart Maintenance System for Industrial IoT</a:t>
            </a:r>
            <a:endParaRPr lang="en-US" sz="2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52E417-F7FB-0077-9F34-925013195C87}"/>
              </a:ext>
            </a:extLst>
          </p:cNvPr>
          <p:cNvCxnSpPr/>
          <p:nvPr/>
        </p:nvCxnSpPr>
        <p:spPr>
          <a:xfrm>
            <a:off x="340745" y="742825"/>
            <a:ext cx="113221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D6B0844-EEF3-7D45-97DD-541841AA33AC}"/>
              </a:ext>
            </a:extLst>
          </p:cNvPr>
          <p:cNvSpPr/>
          <p:nvPr/>
        </p:nvSpPr>
        <p:spPr>
          <a:xfrm>
            <a:off x="1789985" y="5765957"/>
            <a:ext cx="2346385" cy="8108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RAG/ Retriever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F5B2E3-78F4-66E5-6E7D-E3FF2F0B2979}"/>
              </a:ext>
            </a:extLst>
          </p:cNvPr>
          <p:cNvSpPr/>
          <p:nvPr/>
        </p:nvSpPr>
        <p:spPr>
          <a:xfrm>
            <a:off x="6288655" y="5765956"/>
            <a:ext cx="2346385" cy="8108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Alerting</a:t>
            </a:r>
          </a:p>
          <a:p>
            <a:pPr algn="ctr"/>
            <a:r>
              <a:rPr lang="en-US" dirty="0"/>
              <a:t>Azure Monitor</a:t>
            </a:r>
          </a:p>
          <a:p>
            <a:pPr algn="ctr"/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C4642B5-62D1-9593-7084-0EE7FD949F3C}"/>
              </a:ext>
            </a:extLst>
          </p:cNvPr>
          <p:cNvSpPr/>
          <p:nvPr/>
        </p:nvSpPr>
        <p:spPr>
          <a:xfrm>
            <a:off x="3965266" y="4619492"/>
            <a:ext cx="2667721" cy="8108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Predictor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F00D4FA-A8A4-6A7A-3EBE-2D9F9C4FA244}"/>
              </a:ext>
            </a:extLst>
          </p:cNvPr>
          <p:cNvGrpSpPr/>
          <p:nvPr/>
        </p:nvGrpSpPr>
        <p:grpSpPr>
          <a:xfrm>
            <a:off x="239028" y="1126940"/>
            <a:ext cx="2724150" cy="1093113"/>
            <a:chOff x="239028" y="1126940"/>
            <a:chExt cx="2724150" cy="10931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D23BBA9-1E24-8642-9C1E-1778E02A2BFD}"/>
                </a:ext>
              </a:extLst>
            </p:cNvPr>
            <p:cNvSpPr/>
            <p:nvPr/>
          </p:nvSpPr>
          <p:spPr>
            <a:xfrm>
              <a:off x="239028" y="1126940"/>
              <a:ext cx="2724150" cy="1093113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Azure Subscription</a:t>
              </a:r>
            </a:p>
          </p:txBody>
        </p:sp>
        <p:pic>
          <p:nvPicPr>
            <p:cNvPr id="1026" name="Picture 2" descr="Azure - Free shapes icons">
              <a:extLst>
                <a:ext uri="{FF2B5EF4-FFF2-40B4-BE49-F238E27FC236}">
                  <a16:creationId xmlns:a16="http://schemas.microsoft.com/office/drawing/2014/main" id="{32582911-568D-E400-D29B-BD5344691F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718" y="1204490"/>
              <a:ext cx="810881" cy="66228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DD00EA-54A3-25BE-5B4F-05800F7AD842}"/>
              </a:ext>
            </a:extLst>
          </p:cNvPr>
          <p:cNvGrpSpPr/>
          <p:nvPr/>
        </p:nvGrpSpPr>
        <p:grpSpPr>
          <a:xfrm>
            <a:off x="3804254" y="1116245"/>
            <a:ext cx="2667721" cy="1100600"/>
            <a:chOff x="3430435" y="1373410"/>
            <a:chExt cx="2667721" cy="11006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28F6BE-9E9D-E68A-0D97-81A4530BBFEE}"/>
                </a:ext>
              </a:extLst>
            </p:cNvPr>
            <p:cNvSpPr/>
            <p:nvPr/>
          </p:nvSpPr>
          <p:spPr>
            <a:xfrm>
              <a:off x="3430435" y="1380889"/>
              <a:ext cx="2667721" cy="109312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Azure AI Foundry</a:t>
              </a:r>
            </a:p>
          </p:txBody>
        </p:sp>
        <p:pic>
          <p:nvPicPr>
            <p:cNvPr id="1028" name="Picture 4" descr="Azure AI Foundry - Visual Studio Marketplace">
              <a:extLst>
                <a:ext uri="{FF2B5EF4-FFF2-40B4-BE49-F238E27FC236}">
                  <a16:creationId xmlns:a16="http://schemas.microsoft.com/office/drawing/2014/main" id="{D86480BD-AC97-CA49-B450-B73BA6D1E6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4481" y="1373410"/>
              <a:ext cx="946210" cy="946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63790C2-DE78-B0A0-23BD-3F357CB35ED5}"/>
              </a:ext>
            </a:extLst>
          </p:cNvPr>
          <p:cNvGrpSpPr/>
          <p:nvPr/>
        </p:nvGrpSpPr>
        <p:grpSpPr>
          <a:xfrm>
            <a:off x="7815534" y="1037158"/>
            <a:ext cx="2695925" cy="887271"/>
            <a:chOff x="8281357" y="1175182"/>
            <a:chExt cx="2695926" cy="81088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2212B8D-BEA1-40A7-9F5F-19903A42ED4E}"/>
                </a:ext>
              </a:extLst>
            </p:cNvPr>
            <p:cNvSpPr/>
            <p:nvPr/>
          </p:nvSpPr>
          <p:spPr>
            <a:xfrm>
              <a:off x="8281357" y="1175182"/>
              <a:ext cx="2695926" cy="8108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Azure AI </a:t>
              </a:r>
            </a:p>
            <a:p>
              <a:pPr algn="ctr"/>
              <a:r>
                <a:rPr lang="en-US" dirty="0"/>
                <a:t>Agent Service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4FEAE49-9FE0-22A2-DF99-6CEF1687B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33116" y="1345569"/>
              <a:ext cx="573777" cy="64049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263BB6-5383-628A-4DC8-77732866C4D0}"/>
              </a:ext>
            </a:extLst>
          </p:cNvPr>
          <p:cNvGrpSpPr/>
          <p:nvPr/>
        </p:nvGrpSpPr>
        <p:grpSpPr>
          <a:xfrm>
            <a:off x="7815533" y="2164880"/>
            <a:ext cx="2695925" cy="810883"/>
            <a:chOff x="8281358" y="2287437"/>
            <a:chExt cx="2695925" cy="81088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81DBAE2-3BED-5A8A-8F00-A8CC875FC708}"/>
                </a:ext>
              </a:extLst>
            </p:cNvPr>
            <p:cNvSpPr/>
            <p:nvPr/>
          </p:nvSpPr>
          <p:spPr>
            <a:xfrm>
              <a:off x="8281358" y="2287437"/>
              <a:ext cx="2695925" cy="8108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Azure AI Search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C7D9E29-8CA8-1AD3-DBA8-28550F6E7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4875" y="2366301"/>
              <a:ext cx="677213" cy="603604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AEA8-5D24-B542-6957-4E8CD53D04CC}"/>
              </a:ext>
            </a:extLst>
          </p:cNvPr>
          <p:cNvGrpSpPr/>
          <p:nvPr/>
        </p:nvGrpSpPr>
        <p:grpSpPr>
          <a:xfrm>
            <a:off x="7815535" y="3290976"/>
            <a:ext cx="2695926" cy="810883"/>
            <a:chOff x="8281358" y="3429000"/>
            <a:chExt cx="2695926" cy="81088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A2660F1-02C0-A5E0-C874-5421878A5050}"/>
                </a:ext>
              </a:extLst>
            </p:cNvPr>
            <p:cNvSpPr/>
            <p:nvPr/>
          </p:nvSpPr>
          <p:spPr>
            <a:xfrm>
              <a:off x="8281358" y="3429000"/>
              <a:ext cx="2695926" cy="8108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 Azure Blob</a:t>
              </a:r>
            </a:p>
            <a:p>
              <a:pPr algn="ctr"/>
              <a:r>
                <a:rPr lang="en-US" dirty="0"/>
                <a:t>	Storage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5C89D69C-34C7-7040-EC83-F7A35D976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98608" y="3483928"/>
              <a:ext cx="961069" cy="70720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89588D-7693-F494-C563-9AA5686DB5E4}"/>
              </a:ext>
            </a:extLst>
          </p:cNvPr>
          <p:cNvGrpSpPr/>
          <p:nvPr/>
        </p:nvGrpSpPr>
        <p:grpSpPr>
          <a:xfrm>
            <a:off x="7815533" y="4253732"/>
            <a:ext cx="2695925" cy="810883"/>
            <a:chOff x="8281357" y="4842627"/>
            <a:chExt cx="2695925" cy="81088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E4C9034-E814-30BC-1D43-2F250E4126E0}"/>
                </a:ext>
              </a:extLst>
            </p:cNvPr>
            <p:cNvSpPr/>
            <p:nvPr/>
          </p:nvSpPr>
          <p:spPr>
            <a:xfrm>
              <a:off x="8281357" y="4842627"/>
              <a:ext cx="2695925" cy="81088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IOT Hub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BE9C1AA-39B6-9782-D408-985A00F84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3116" y="4870621"/>
              <a:ext cx="728972" cy="696573"/>
            </a:xfrm>
            <a:prstGeom prst="rect">
              <a:avLst/>
            </a:prstGeom>
          </p:spPr>
        </p:pic>
      </p:grp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7CFAD20-8324-0ED0-1A45-DA5AD901AEE5}"/>
              </a:ext>
            </a:extLst>
          </p:cNvPr>
          <p:cNvSpPr/>
          <p:nvPr/>
        </p:nvSpPr>
        <p:spPr>
          <a:xfrm>
            <a:off x="3378504" y="2917069"/>
            <a:ext cx="3519219" cy="81088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Kernal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DD5C18B-FD82-2B57-04B1-1684E5E2FB17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2963178" y="1670285"/>
            <a:ext cx="841076" cy="32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FF5B406-4C09-6B2A-B3D6-003D92850258}"/>
              </a:ext>
            </a:extLst>
          </p:cNvPr>
          <p:cNvCxnSpPr>
            <a:endCxn id="38" idx="0"/>
          </p:cNvCxnSpPr>
          <p:nvPr/>
        </p:nvCxnSpPr>
        <p:spPr>
          <a:xfrm>
            <a:off x="5138113" y="2366301"/>
            <a:ext cx="1" cy="550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647BF84-AE88-DFC3-768C-8AAD6089A9F7}"/>
              </a:ext>
            </a:extLst>
          </p:cNvPr>
          <p:cNvCxnSpPr/>
          <p:nvPr/>
        </p:nvCxnSpPr>
        <p:spPr>
          <a:xfrm>
            <a:off x="5138114" y="3834441"/>
            <a:ext cx="0" cy="736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3DA78BD-8979-897F-5370-07AEA2B525A2}"/>
              </a:ext>
            </a:extLst>
          </p:cNvPr>
          <p:cNvCxnSpPr>
            <a:stCxn id="22" idx="2"/>
            <a:endCxn id="18" idx="3"/>
          </p:cNvCxnSpPr>
          <p:nvPr/>
        </p:nvCxnSpPr>
        <p:spPr>
          <a:xfrm rot="5400000">
            <a:off x="4347237" y="5219508"/>
            <a:ext cx="741025" cy="11627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D3622D0-A6D4-5F89-77F3-0C576365C18F}"/>
              </a:ext>
            </a:extLst>
          </p:cNvPr>
          <p:cNvCxnSpPr/>
          <p:nvPr/>
        </p:nvCxnSpPr>
        <p:spPr>
          <a:xfrm>
            <a:off x="5299126" y="6171398"/>
            <a:ext cx="796874" cy="12700"/>
          </a:xfrm>
          <a:prstGeom prst="bentConnector3">
            <a:avLst>
              <a:gd name="adj1" fmla="val 1149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B4C3E80-7879-82DE-F67A-68837C8B52FA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471975" y="1405962"/>
            <a:ext cx="1288937" cy="26432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70D472C-AD33-B2C3-9D86-C03C598448C9}"/>
              </a:ext>
            </a:extLst>
          </p:cNvPr>
          <p:cNvCxnSpPr>
            <a:endCxn id="14" idx="1"/>
          </p:cNvCxnSpPr>
          <p:nvPr/>
        </p:nvCxnSpPr>
        <p:spPr>
          <a:xfrm rot="16200000" flipH="1">
            <a:off x="7003930" y="1758719"/>
            <a:ext cx="915836" cy="7073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92758C0-0224-E904-69CF-F2DA6A4BF297}"/>
              </a:ext>
            </a:extLst>
          </p:cNvPr>
          <p:cNvCxnSpPr>
            <a:cxnSpLocks/>
            <a:endCxn id="31" idx="1"/>
          </p:cNvCxnSpPr>
          <p:nvPr/>
        </p:nvCxnSpPr>
        <p:spPr>
          <a:xfrm rot="16200000" flipH="1">
            <a:off x="6898149" y="2764869"/>
            <a:ext cx="1144650" cy="7246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C5C6A780-16D7-24CF-2FFA-206792195B19}"/>
              </a:ext>
            </a:extLst>
          </p:cNvPr>
          <p:cNvCxnSpPr/>
          <p:nvPr/>
        </p:nvCxnSpPr>
        <p:spPr>
          <a:xfrm rot="16200000" flipH="1">
            <a:off x="6957299" y="3855560"/>
            <a:ext cx="962756" cy="644469"/>
          </a:xfrm>
          <a:prstGeom prst="bentConnector3">
            <a:avLst>
              <a:gd name="adj1" fmla="val 1001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allout: Line 61">
            <a:extLst>
              <a:ext uri="{FF2B5EF4-FFF2-40B4-BE49-F238E27FC236}">
                <a16:creationId xmlns:a16="http://schemas.microsoft.com/office/drawing/2014/main" id="{E6A2B9E4-3572-29E4-0DA9-451EAF5D2902}"/>
              </a:ext>
            </a:extLst>
          </p:cNvPr>
          <p:cNvSpPr/>
          <p:nvPr/>
        </p:nvSpPr>
        <p:spPr>
          <a:xfrm>
            <a:off x="1662752" y="2408869"/>
            <a:ext cx="2104845" cy="350512"/>
          </a:xfrm>
          <a:prstGeom prst="borderCallout1">
            <a:avLst>
              <a:gd name="adj1" fmla="val -15705"/>
              <a:gd name="adj2" fmla="val 67077"/>
              <a:gd name="adj3" fmla="val -143454"/>
              <a:gd name="adj4" fmla="val 13215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Orchestration</a:t>
            </a:r>
          </a:p>
        </p:txBody>
      </p:sp>
      <p:sp>
        <p:nvSpPr>
          <p:cNvPr id="63" name="Callout: Line 62">
            <a:extLst>
              <a:ext uri="{FF2B5EF4-FFF2-40B4-BE49-F238E27FC236}">
                <a16:creationId xmlns:a16="http://schemas.microsoft.com/office/drawing/2014/main" id="{475CF193-C731-F771-6B1A-5A6EF5132C5D}"/>
              </a:ext>
            </a:extLst>
          </p:cNvPr>
          <p:cNvSpPr/>
          <p:nvPr/>
        </p:nvSpPr>
        <p:spPr>
          <a:xfrm>
            <a:off x="737562" y="3094964"/>
            <a:ext cx="2104845" cy="1258086"/>
          </a:xfrm>
          <a:prstGeom prst="borderCallout1">
            <a:avLst>
              <a:gd name="adj1" fmla="val 35035"/>
              <a:gd name="adj2" fmla="val 99864"/>
              <a:gd name="adj3" fmla="val 10138"/>
              <a:gd name="adj4" fmla="val 13625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Semantic Kernel to plan repair workflows dynamically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7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6AAEEA-6DDE-ED55-8D43-285ABCA18A59}"/>
              </a:ext>
            </a:extLst>
          </p:cNvPr>
          <p:cNvSpPr txBox="1"/>
          <p:nvPr/>
        </p:nvSpPr>
        <p:spPr>
          <a:xfrm>
            <a:off x="340745" y="281160"/>
            <a:ext cx="11184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Workflow diagram for </a:t>
            </a:r>
            <a:r>
              <a:rPr lang="en-IN" sz="2400" b="1" dirty="0"/>
              <a:t>Smart Maintenance System for Industrial IoT</a:t>
            </a:r>
            <a:endParaRPr lang="en-US" sz="2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0954FF-90E4-E3FC-6B80-5846E52E5FD3}"/>
              </a:ext>
            </a:extLst>
          </p:cNvPr>
          <p:cNvCxnSpPr/>
          <p:nvPr/>
        </p:nvCxnSpPr>
        <p:spPr>
          <a:xfrm>
            <a:off x="340745" y="742825"/>
            <a:ext cx="113221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7335856-5748-017A-3CBB-2FA5AF861680}"/>
              </a:ext>
            </a:extLst>
          </p:cNvPr>
          <p:cNvGrpSpPr/>
          <p:nvPr/>
        </p:nvGrpSpPr>
        <p:grpSpPr>
          <a:xfrm>
            <a:off x="2018951" y="982249"/>
            <a:ext cx="2667721" cy="1100600"/>
            <a:chOff x="3430435" y="1373410"/>
            <a:chExt cx="2667721" cy="1100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855DC68-40C9-94FD-B56B-84A5517EDB9D}"/>
                </a:ext>
              </a:extLst>
            </p:cNvPr>
            <p:cNvSpPr/>
            <p:nvPr/>
          </p:nvSpPr>
          <p:spPr>
            <a:xfrm>
              <a:off x="3430435" y="1380889"/>
              <a:ext cx="2667721" cy="1093121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Azure AI Foundry</a:t>
              </a:r>
            </a:p>
          </p:txBody>
        </p:sp>
        <p:pic>
          <p:nvPicPr>
            <p:cNvPr id="8" name="Picture 4" descr="Azure AI Foundry - Visual Studio Marketplace">
              <a:extLst>
                <a:ext uri="{FF2B5EF4-FFF2-40B4-BE49-F238E27FC236}">
                  <a16:creationId xmlns:a16="http://schemas.microsoft.com/office/drawing/2014/main" id="{D57334A1-17C1-03E7-BB81-ED79008FC2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4481" y="1373410"/>
              <a:ext cx="946210" cy="9462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FDD422-417A-9EF1-F069-F63C443A4C31}"/>
              </a:ext>
            </a:extLst>
          </p:cNvPr>
          <p:cNvSpPr/>
          <p:nvPr/>
        </p:nvSpPr>
        <p:spPr>
          <a:xfrm>
            <a:off x="3048953" y="4706796"/>
            <a:ext cx="2346385" cy="81088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RAG/ Retriever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F1AD98-E076-9893-806C-0E02DC084216}"/>
              </a:ext>
            </a:extLst>
          </p:cNvPr>
          <p:cNvSpPr/>
          <p:nvPr/>
        </p:nvSpPr>
        <p:spPr>
          <a:xfrm>
            <a:off x="3048953" y="5709733"/>
            <a:ext cx="2346385" cy="8108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Alerting</a:t>
            </a:r>
          </a:p>
          <a:p>
            <a:pPr algn="ctr"/>
            <a:r>
              <a:rPr lang="en-US" dirty="0"/>
              <a:t>Azure Monitor</a:t>
            </a:r>
          </a:p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44FC110-FFEC-DAF7-55E9-BE6B19DA92FD}"/>
              </a:ext>
            </a:extLst>
          </p:cNvPr>
          <p:cNvSpPr/>
          <p:nvPr/>
        </p:nvSpPr>
        <p:spPr>
          <a:xfrm>
            <a:off x="3048953" y="3552700"/>
            <a:ext cx="2269457" cy="8108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5D6D3-173A-3BE6-B444-88EF6DA15433}"/>
              </a:ext>
            </a:extLst>
          </p:cNvPr>
          <p:cNvSpPr txBox="1"/>
          <p:nvPr/>
        </p:nvSpPr>
        <p:spPr>
          <a:xfrm>
            <a:off x="5685246" y="826913"/>
            <a:ext cx="61355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workflow diagram shows integrating Azure AI and devices. </a:t>
            </a:r>
          </a:p>
          <a:p>
            <a:r>
              <a:rPr lang="en-US" dirty="0"/>
              <a:t>Devices stream telemetry data into the system. </a:t>
            </a:r>
          </a:p>
          <a:p>
            <a:endParaRPr lang="en-US" b="1" dirty="0"/>
          </a:p>
          <a:p>
            <a:r>
              <a:rPr lang="en-US" b="1" dirty="0"/>
              <a:t>Azure AI Foundry</a:t>
            </a:r>
            <a:r>
              <a:rPr lang="en-US" dirty="0"/>
              <a:t> acts as the orchestrator, delegating tasks to the </a:t>
            </a:r>
            <a:r>
              <a:rPr lang="en-US" b="1" dirty="0"/>
              <a:t>Semantic Kernel</a:t>
            </a:r>
            <a:r>
              <a:rPr lang="en-US" dirty="0"/>
              <a:t>, which dynamically plans workflows. </a:t>
            </a:r>
          </a:p>
          <a:p>
            <a:endParaRPr lang="en-US" dirty="0"/>
          </a:p>
          <a:p>
            <a:r>
              <a:rPr lang="en-US" dirty="0"/>
              <a:t>The Semantic Kernel coordinates three key agents: </a:t>
            </a:r>
            <a:r>
              <a:rPr lang="en-US" b="1" dirty="0"/>
              <a:t>Predictor:</a:t>
            </a:r>
          </a:p>
          <a:p>
            <a:r>
              <a:rPr lang="en-US" dirty="0"/>
              <a:t> which forecasts equipment failures; the </a:t>
            </a:r>
            <a:r>
              <a:rPr lang="en-US" b="1" dirty="0"/>
              <a:t>Retriever/RAG:</a:t>
            </a:r>
          </a:p>
          <a:p>
            <a:r>
              <a:rPr lang="en-US" dirty="0"/>
              <a:t> which fetches relevant maintenance documents from Blob Storage; </a:t>
            </a:r>
          </a:p>
          <a:p>
            <a:r>
              <a:rPr lang="en-US" b="1" dirty="0"/>
              <a:t>Alerting module</a:t>
            </a:r>
            <a:r>
              <a:rPr lang="en-US" dirty="0"/>
              <a:t>, </a:t>
            </a:r>
          </a:p>
          <a:p>
            <a:r>
              <a:rPr lang="en-US" dirty="0"/>
              <a:t>which triggers notifications. Alerts connect to Azure Monitor, where anomalies are tracked and compliance dashboards are generated. </a:t>
            </a:r>
          </a:p>
          <a:p>
            <a:endParaRPr lang="en-US" dirty="0"/>
          </a:p>
          <a:p>
            <a:r>
              <a:rPr lang="en-US" dirty="0"/>
              <a:t>This design ensures the responsible AI-driven decision-making.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8694A9-8FD8-09B3-B2BA-867D78E0F24F}"/>
              </a:ext>
            </a:extLst>
          </p:cNvPr>
          <p:cNvSpPr/>
          <p:nvPr/>
        </p:nvSpPr>
        <p:spPr>
          <a:xfrm>
            <a:off x="1876119" y="2449540"/>
            <a:ext cx="3519219" cy="81088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Kernal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B483D-09C6-DE69-DF75-9B68A2256990}"/>
              </a:ext>
            </a:extLst>
          </p:cNvPr>
          <p:cNvSpPr/>
          <p:nvPr/>
        </p:nvSpPr>
        <p:spPr>
          <a:xfrm>
            <a:off x="156705" y="4540345"/>
            <a:ext cx="2346385" cy="81088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Devices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71E9562-1BBA-5A7C-0A1F-70D7EEEE121D}"/>
              </a:ext>
            </a:extLst>
          </p:cNvPr>
          <p:cNvCxnSpPr>
            <a:endCxn id="14" idx="0"/>
          </p:cNvCxnSpPr>
          <p:nvPr/>
        </p:nvCxnSpPr>
        <p:spPr>
          <a:xfrm flipH="1">
            <a:off x="3635729" y="2057037"/>
            <a:ext cx="43044" cy="39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8FEEC59-1D05-87B5-E379-8EB2C9E926C7}"/>
              </a:ext>
            </a:extLst>
          </p:cNvPr>
          <p:cNvCxnSpPr>
            <a:stCxn id="15" idx="3"/>
            <a:endCxn id="11" idx="1"/>
          </p:cNvCxnSpPr>
          <p:nvPr/>
        </p:nvCxnSpPr>
        <p:spPr>
          <a:xfrm flipV="1">
            <a:off x="2503090" y="3958141"/>
            <a:ext cx="545863" cy="987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154745E-7B72-6BBE-02A7-0AD99A0C293F}"/>
              </a:ext>
            </a:extLst>
          </p:cNvPr>
          <p:cNvCxnSpPr/>
          <p:nvPr/>
        </p:nvCxnSpPr>
        <p:spPr>
          <a:xfrm rot="16200000" flipH="1">
            <a:off x="2741722" y="4997061"/>
            <a:ext cx="358506" cy="2559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29D50B-AF92-1E24-CB7A-63C4DC21A48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4175185" y="3260422"/>
            <a:ext cx="8497" cy="292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027B37F-AB13-8F32-E25F-08BDC15ACC34}"/>
              </a:ext>
            </a:extLst>
          </p:cNvPr>
          <p:cNvCxnSpPr>
            <a:endCxn id="10" idx="1"/>
          </p:cNvCxnSpPr>
          <p:nvPr/>
        </p:nvCxnSpPr>
        <p:spPr>
          <a:xfrm rot="16200000" flipH="1">
            <a:off x="2442686" y="5508907"/>
            <a:ext cx="956579" cy="2559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60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3438738-2DFB-6CFE-3C7F-054B4C18E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39" y="809325"/>
            <a:ext cx="1154214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Retriever Agent</a:t>
            </a:r>
            <a:endParaRPr lang="en-US" altLang="en-US" sz="1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Fetches latest telemetry from Azure AI Search.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query.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Structured telemetry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Predictor Agent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Runs failure prediction using telemetry.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Output from Retriever Agent.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Alerting Agent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endParaRPr lang="en-US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notifications if a threshold is exceeded.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Output from Predictor Agent.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 Alert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0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B91B0-517D-D090-DDE5-B3C51AB4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8" y="550652"/>
            <a:ext cx="9299275" cy="57566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9791F-869E-F4D5-7093-EA8DEBB9A9EE}"/>
              </a:ext>
            </a:extLst>
          </p:cNvPr>
          <p:cNvSpPr txBox="1"/>
          <p:nvPr/>
        </p:nvSpPr>
        <p:spPr>
          <a:xfrm>
            <a:off x="503927" y="88987"/>
            <a:ext cx="111841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Screenshots – Actual run with stateful agents</a:t>
            </a:r>
          </a:p>
        </p:txBody>
      </p:sp>
    </p:spTree>
    <p:extLst>
      <p:ext uri="{BB962C8B-B14F-4D97-AF65-F5344CB8AC3E}">
        <p14:creationId xmlns:p14="http://schemas.microsoft.com/office/powerpoint/2010/main" val="242795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</TotalTime>
  <Words>235</Words>
  <Application>Microsoft Office PowerPoint</Application>
  <PresentationFormat>Widescreen</PresentationFormat>
  <Paragraphs>59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Agarwal, Jaswant</dc:creator>
  <cp:lastModifiedBy>Kumar Agarwal, Jaswant</cp:lastModifiedBy>
  <cp:revision>9</cp:revision>
  <dcterms:created xsi:type="dcterms:W3CDTF">2025-08-28T05:05:25Z</dcterms:created>
  <dcterms:modified xsi:type="dcterms:W3CDTF">2025-08-30T12:27:45Z</dcterms:modified>
</cp:coreProperties>
</file>